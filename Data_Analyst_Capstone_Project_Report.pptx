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IBM Plex Sans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  <p:embeddedFont>
      <p:font typeface="IBM Plex Mono"/>
      <p:regular r:id="rId36"/>
      <p:bold r:id="rId37"/>
      <p:italic r:id="rId38"/>
      <p:boldItalic r:id="rId39"/>
    </p:embeddedFont>
    <p:embeddedFont>
      <p:font typeface="IBM Plex Sans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IBMPlexSansSemiBold-italic.fntdata"/><Relationship Id="rId41" Type="http://schemas.openxmlformats.org/officeDocument/2006/relationships/font" Target="fonts/IBMPlexSansSemiBold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IBMPlexSansSemiBold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BMPlex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italic.fntdata"/><Relationship Id="rId11" Type="http://schemas.openxmlformats.org/officeDocument/2006/relationships/slide" Target="slides/slide5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4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9.xml"/><Relationship Id="rId37" Type="http://schemas.openxmlformats.org/officeDocument/2006/relationships/font" Target="fonts/IBMPlexMono-bold.fntdata"/><Relationship Id="rId14" Type="http://schemas.openxmlformats.org/officeDocument/2006/relationships/slide" Target="slides/slide8.xml"/><Relationship Id="rId36" Type="http://schemas.openxmlformats.org/officeDocument/2006/relationships/font" Target="fonts/IBMPlexMono-regular.fntdata"/><Relationship Id="rId17" Type="http://schemas.openxmlformats.org/officeDocument/2006/relationships/slide" Target="slides/slide11.xml"/><Relationship Id="rId39" Type="http://schemas.openxmlformats.org/officeDocument/2006/relationships/font" Target="fonts/IBMPlex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IBMPlex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460405" y="876301"/>
            <a:ext cx="8223190" cy="1790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600"/>
              <a:buFont typeface="IBM Plex Sans SemiBold"/>
              <a:buNone/>
              <a:defRPr b="0" i="0" sz="360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146205" y="2798435"/>
            <a:ext cx="6851591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25252"/>
              </a:buClr>
              <a:buSzPts val="1800"/>
              <a:buNone/>
              <a:defRPr b="0" i="0" sz="1800">
                <a:solidFill>
                  <a:srgbClr val="52525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93" name="Google Shape;93;p14"/>
          <p:cNvCxnSpPr/>
          <p:nvPr/>
        </p:nvCxnSpPr>
        <p:spPr>
          <a:xfrm>
            <a:off x="2160270" y="2736833"/>
            <a:ext cx="4823460" cy="0"/>
          </a:xfrm>
          <a:prstGeom prst="straightConnector1">
            <a:avLst/>
          </a:prstGeom>
          <a:noFill/>
          <a:ln cap="flat" cmpd="sng" w="9525">
            <a:solidFill>
              <a:srgbClr val="6C4DEA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4" name="Google Shape;94;p14"/>
          <p:cNvSpPr/>
          <p:nvPr/>
        </p:nvSpPr>
        <p:spPr>
          <a:xfrm>
            <a:off x="3070185" y="4153064"/>
            <a:ext cx="3003630" cy="228269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IBM Corporation. All rights reserved.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3415" y="4779415"/>
            <a:ext cx="459794" cy="182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90" y="4779076"/>
            <a:ext cx="1223010" cy="185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  <a:defRPr>
                <a:solidFill>
                  <a:srgbClr val="52525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28650" y="1200149"/>
            <a:ext cx="805815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•"/>
              <a:defRPr>
                <a:solidFill>
                  <a:srgbClr val="26262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>
                <a:solidFill>
                  <a:srgbClr val="262626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>
                <a:solidFill>
                  <a:srgbClr val="262626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>
                <a:solidFill>
                  <a:srgbClr val="262626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00" name="Google Shape;100;p15"/>
          <p:cNvCxnSpPr/>
          <p:nvPr/>
        </p:nvCxnSpPr>
        <p:spPr>
          <a:xfrm>
            <a:off x="628650" y="972484"/>
            <a:ext cx="7886700" cy="276"/>
          </a:xfrm>
          <a:prstGeom prst="straightConnector1">
            <a:avLst/>
          </a:prstGeom>
          <a:noFill/>
          <a:ln cap="flat" cmpd="sng" w="9525">
            <a:solidFill>
              <a:srgbClr val="6C4DEA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  <a:defRPr b="1" i="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628650" y="120015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•"/>
              <a:defRPr>
                <a:solidFill>
                  <a:srgbClr val="26262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>
                <a:solidFill>
                  <a:srgbClr val="262626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25252"/>
              </a:buClr>
              <a:buSzPts val="1400"/>
              <a:buChar char="•"/>
              <a:defRPr>
                <a:solidFill>
                  <a:srgbClr val="52525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25252"/>
              </a:buClr>
              <a:buSzPts val="1400"/>
              <a:buChar char="•"/>
              <a:defRPr>
                <a:solidFill>
                  <a:srgbClr val="52525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629150" y="120015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•"/>
              <a:defRPr>
                <a:solidFill>
                  <a:srgbClr val="26262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>
                <a:solidFill>
                  <a:srgbClr val="262626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25252"/>
              </a:buClr>
              <a:buSzPts val="1400"/>
              <a:buChar char="•"/>
              <a:defRPr>
                <a:solidFill>
                  <a:srgbClr val="52525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25252"/>
              </a:buClr>
              <a:buSzPts val="1400"/>
              <a:buChar char="•"/>
              <a:defRPr>
                <a:solidFill>
                  <a:srgbClr val="52525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05" name="Google Shape;105;p16"/>
          <p:cNvCxnSpPr/>
          <p:nvPr/>
        </p:nvCxnSpPr>
        <p:spPr>
          <a:xfrm>
            <a:off x="628650" y="1023187"/>
            <a:ext cx="7886700" cy="276"/>
          </a:xfrm>
          <a:prstGeom prst="straightConnector1">
            <a:avLst/>
          </a:prstGeom>
          <a:noFill/>
          <a:ln cap="flat" cmpd="sng" w="9525">
            <a:solidFill>
              <a:srgbClr val="6C4DEA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600"/>
              <a:buFont typeface="IBM Plex Sans SemiBold"/>
              <a:buNone/>
              <a:defRPr b="1" i="0" sz="360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  <a:defRPr b="1" i="0" sz="3000" u="none" cap="none" strike="noStrike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8588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descr="Text, logo  Description automatically generated" id="53" name="Google Shape;53;p13"/>
          <p:cNvPicPr preferRelativeResize="0"/>
          <p:nvPr/>
        </p:nvPicPr>
        <p:blipFill rotWithShape="1">
          <a:blip r:embed="rId1">
            <a:alphaModFix amt="5000"/>
          </a:blip>
          <a:srcRect b="0" l="-1923" r="70315" t="0"/>
          <a:stretch/>
        </p:blipFill>
        <p:spPr>
          <a:xfrm>
            <a:off x="2508845" y="1064108"/>
            <a:ext cx="4126310" cy="361959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9469083" y="2046231"/>
            <a:ext cx="926909" cy="926909"/>
          </a:xfrm>
          <a:prstGeom prst="rect">
            <a:avLst/>
          </a:prstGeom>
          <a:solidFill>
            <a:srgbClr val="BE95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#BE95FF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3553911" y="2046231"/>
            <a:ext cx="926909" cy="926909"/>
          </a:xfrm>
          <a:prstGeom prst="rect">
            <a:avLst/>
          </a:prstGeom>
          <a:solidFill>
            <a:srgbClr val="33B1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#33B1FF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0830692" y="2046231"/>
            <a:ext cx="926909" cy="926909"/>
          </a:xfrm>
          <a:prstGeom prst="rect">
            <a:avLst/>
          </a:prstGeom>
          <a:solidFill>
            <a:srgbClr val="FF7EB6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#FF7EB6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2192301" y="2046231"/>
            <a:ext cx="926909" cy="926909"/>
          </a:xfrm>
          <a:prstGeom prst="rect">
            <a:avLst/>
          </a:prstGeom>
          <a:solidFill>
            <a:srgbClr val="08BDBA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#08BDBA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451840" y="2934320"/>
            <a:ext cx="9283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Purple 40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0750608" y="2934320"/>
            <a:ext cx="10870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Magenta 40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303578" y="2934320"/>
            <a:ext cx="7247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Teal 40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3654982" y="2934320"/>
            <a:ext cx="7913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Cyan 40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9469083" y="3313525"/>
            <a:ext cx="926909" cy="926908"/>
          </a:xfrm>
          <a:prstGeom prst="rect">
            <a:avLst/>
          </a:prstGeom>
          <a:solidFill>
            <a:srgbClr val="8A3FFC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#8A3FFC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3553911" y="3313525"/>
            <a:ext cx="926909" cy="926908"/>
          </a:xfrm>
          <a:prstGeom prst="rect">
            <a:avLst/>
          </a:prstGeom>
          <a:solidFill>
            <a:srgbClr val="0072C3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#0072C3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0830692" y="3313525"/>
            <a:ext cx="926909" cy="926908"/>
          </a:xfrm>
          <a:prstGeom prst="rect">
            <a:avLst/>
          </a:prstGeom>
          <a:solidFill>
            <a:srgbClr val="D02670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#D02670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2192301" y="3313525"/>
            <a:ext cx="926909" cy="926908"/>
          </a:xfrm>
          <a:prstGeom prst="rect">
            <a:avLst/>
          </a:prstGeom>
          <a:solidFill>
            <a:srgbClr val="007D79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#007D79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451840" y="4201614"/>
            <a:ext cx="9283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Purple 60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0750608" y="4201614"/>
            <a:ext cx="1086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Magenta 60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2303578" y="4201614"/>
            <a:ext cx="72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Teal 60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3654982" y="4201614"/>
            <a:ext cx="7913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Cyan 60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4634284" y="2034237"/>
            <a:ext cx="950897" cy="950897"/>
          </a:xfrm>
          <a:prstGeom prst="rect">
            <a:avLst/>
          </a:prstGeom>
          <a:solidFill>
            <a:srgbClr val="121619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Icon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</a:t>
            </a:r>
            <a:r>
              <a:rPr b="0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000000</a:t>
            </a:r>
            <a:endParaRPr b="0" i="0" sz="1400" u="none" cap="none" strike="noStrike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14633017" y="3302972"/>
            <a:ext cx="948014" cy="9480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Icon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</a:t>
            </a:r>
            <a:r>
              <a:rPr b="0" i="0" lang="en" sz="1400" u="none" cap="none" strike="noStrike">
                <a:solidFill>
                  <a:srgbClr val="262626"/>
                </a:solidFill>
                <a:latin typeface="IBM Plex Mono"/>
                <a:ea typeface="IBM Plex Mono"/>
                <a:cs typeface="IBM Plex Mono"/>
                <a:sym typeface="IBM Plex Mono"/>
              </a:rPr>
              <a:t>FFFFFF</a:t>
            </a:r>
            <a:endParaRPr b="0" i="0" sz="14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9469083" y="804562"/>
            <a:ext cx="926909" cy="926908"/>
          </a:xfrm>
          <a:prstGeom prst="rect">
            <a:avLst/>
          </a:prstGeom>
          <a:solidFill>
            <a:srgbClr val="F6F2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#F6F2FF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13553911" y="804562"/>
            <a:ext cx="926909" cy="926908"/>
          </a:xfrm>
          <a:prstGeom prst="rect">
            <a:avLst/>
          </a:prstGeom>
          <a:solidFill>
            <a:srgbClr val="E5F6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#E5F6FF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0830692" y="804562"/>
            <a:ext cx="926909" cy="926908"/>
          </a:xfrm>
          <a:prstGeom prst="rect">
            <a:avLst/>
          </a:prstGeom>
          <a:solidFill>
            <a:srgbClr val="FFF0F7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#FFF0F7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12192301" y="804562"/>
            <a:ext cx="926909" cy="926908"/>
          </a:xfrm>
          <a:prstGeom prst="rect">
            <a:avLst/>
          </a:prstGeom>
          <a:solidFill>
            <a:srgbClr val="D9FBFB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#D9FBFB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9451840" y="1692651"/>
            <a:ext cx="9283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Purple 10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10750608" y="1692651"/>
            <a:ext cx="10870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Magenta 10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12303578" y="1692651"/>
            <a:ext cx="7247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Teal 10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3654982" y="1692651"/>
            <a:ext cx="7913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Cyan 10</a:t>
            </a:r>
            <a:endParaRPr b="1" i="0" sz="14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2166601" y="-1756423"/>
            <a:ext cx="950897" cy="950897"/>
          </a:xfrm>
          <a:prstGeom prst="rect">
            <a:avLst/>
          </a:prstGeom>
          <a:solidFill>
            <a:srgbClr val="C1C7CD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#C1C7CD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2166601" y="-601426"/>
            <a:ext cx="950897" cy="950897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#F2F4F8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10797962" y="-1764104"/>
            <a:ext cx="950897" cy="950897"/>
          </a:xfrm>
          <a:prstGeom prst="rect">
            <a:avLst/>
          </a:prstGeom>
          <a:solidFill>
            <a:srgbClr val="BE95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#BE95FF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0797962" y="-609107"/>
            <a:ext cx="950897" cy="950897"/>
          </a:xfrm>
          <a:prstGeom prst="rect">
            <a:avLst/>
          </a:prstGeom>
          <a:solidFill>
            <a:srgbClr val="33B1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#33B1FF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9429322" y="-1731880"/>
            <a:ext cx="950897" cy="950897"/>
          </a:xfrm>
          <a:prstGeom prst="rect">
            <a:avLst/>
          </a:prstGeom>
          <a:solidFill>
            <a:srgbClr val="08BDBA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#08BDBA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429322" y="-576883"/>
            <a:ext cx="950897" cy="950897"/>
          </a:xfrm>
          <a:prstGeom prst="rect">
            <a:avLst/>
          </a:prstGeom>
          <a:solidFill>
            <a:srgbClr val="78A9FF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#78A9FF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3495407" y="-1731880"/>
            <a:ext cx="950897" cy="950897"/>
          </a:xfrm>
          <a:prstGeom prst="rect">
            <a:avLst/>
          </a:prstGeom>
          <a:solidFill>
            <a:srgbClr val="525252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Labels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#525252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3495406" y="-609107"/>
            <a:ext cx="950897" cy="950897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#262626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3415" y="4779415"/>
            <a:ext cx="459794" cy="182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90" y="4779076"/>
            <a:ext cx="1223010" cy="18573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269252" y="919125"/>
            <a:ext cx="47442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240"/>
              <a:buFont typeface="IBM Plex Sans SemiBold"/>
              <a:buNone/>
            </a:pPr>
            <a:r>
              <a:rPr lang="en" sz="1940"/>
              <a:t>Stack Overflow Developer Survey 2024</a:t>
            </a:r>
            <a:endParaRPr sz="194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240"/>
              <a:buFont typeface="IBM Plex Sans SemiBold"/>
              <a:buNone/>
            </a:pPr>
            <a:r>
              <a:rPr lang="en" sz="1940"/>
              <a:t>Technology Trends and Job Market Analysis</a:t>
            </a:r>
            <a:endParaRPr sz="1940"/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-82520" y="2798435"/>
            <a:ext cx="6851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/>
              <a:t>Presented by:Shivani Mittal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/>
              <a:t> June 2026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9264" y="776738"/>
            <a:ext cx="3596145" cy="326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33" y="1519254"/>
            <a:ext cx="2395936" cy="2395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586540" y="197858"/>
            <a:ext cx="638139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b="1" i="0" lang="en" sz="3000" u="none" cap="none" strike="noStrike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OUTLINE</a:t>
            </a:r>
            <a:endParaRPr b="1" i="0" sz="3000" u="none" cap="none" strike="noStrike">
              <a:solidFill>
                <a:srgbClr val="525252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Executive 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Methodology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Visualization – Charts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Discussion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Findings &amp; Implications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550444" y="228724"/>
            <a:ext cx="642383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3213806" y="1369218"/>
            <a:ext cx="5301544" cy="3349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65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Analyzed 65,437 responses from the Stack Overflow Developer Survey to identify current and future technology trends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Programming languages: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JavaScript is the most widely used language (~37,500 respondents) • Python is the most desired language for next year (~25,000 respondents) • Rust and Go enter the top 10 desired languages despite low current usage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PostgreSQL leads future database preference at 47.1%, nearly double the next database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 Median compensation rises steadily with age, from ~$25K in early 20s to a peak of ~$110K near age 60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Full-stack development is the dominant role (46.7% of top developer types), and hybrid/remote work prevails across all major countries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871" y="1727072"/>
            <a:ext cx="2395936" cy="2395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577516" y="273844"/>
            <a:ext cx="57358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760" y="1696527"/>
            <a:ext cx="2290771" cy="2290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3213806" y="1369219"/>
            <a:ext cx="5301544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i="0" lang="en" sz="1500" u="none" cap="none" strike="noStrike">
                <a:solidFill>
                  <a:schemeClr val="dk1"/>
                </a:solidFill>
              </a:rPr>
              <a:t>This project analyzes the Stack Overflow Annual Developer Survey, a global survey of software professionals</a:t>
            </a:r>
            <a:endParaRPr i="0" sz="1500" u="none" cap="none" strike="noStrike">
              <a:solidFill>
                <a:srgbClr val="000000"/>
              </a:solidFill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i="0" lang="en" sz="1500" u="none" cap="none" strike="noStrike">
                <a:solidFill>
                  <a:schemeClr val="dk1"/>
                </a:solidFill>
              </a:rPr>
              <a:t>The cleaned dataset contains 65,437 responses across 114 columns covering languages, databases, platforms, compensation, and demographics</a:t>
            </a:r>
            <a:endParaRPr i="0" sz="1500" u="none" cap="none" strike="noStrike">
              <a:solidFill>
                <a:srgbClr val="000000"/>
              </a:solidFill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i="0" lang="en" sz="1500" u="none" cap="none" strike="noStrike">
                <a:solidFill>
                  <a:schemeClr val="dk1"/>
                </a:solidFill>
              </a:rPr>
              <a:t>Objective: identify currently dominant technologies and those expected to grow next year</a:t>
            </a:r>
            <a:endParaRPr i="0" sz="1500" u="none" cap="none" strike="noStrike">
              <a:solidFill>
                <a:srgbClr val="000000"/>
              </a:solidFill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i="0" lang="en" sz="1700" u="none" cap="none" strike="noStrike">
                <a:solidFill>
                  <a:schemeClr val="dk1"/>
                </a:solidFill>
              </a:rPr>
              <a:t>Intended audience and use:</a:t>
            </a:r>
            <a:endParaRPr i="0" sz="1100" u="none" cap="none" strike="noStrike">
              <a:solidFill>
                <a:srgbClr val="000000"/>
              </a:solidFill>
            </a:endParaRPr>
          </a:p>
          <a:p>
            <a:pPr indent="-18415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i="0" lang="en" sz="1500" u="none" cap="none" strike="noStrike">
                <a:solidFill>
                  <a:schemeClr val="dk1"/>
                </a:solidFill>
              </a:rPr>
              <a:t>• Hiring managers planning recruitment and training • Developers deciding which skills to invest in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586540" y="282481"/>
            <a:ext cx="542304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3213806" y="1369219"/>
            <a:ext cx="5301544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Data collection: gathered job postings via the Jobs API and programming language data via web scraping (Module 1)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wrangling: removed 10 duplicate rows; imputed missing values (RemoteWork had 10,631 missing entries, filled with the majority category); normalized compensation data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Exploratory analysis: distributions, outlier detection, and correlation analysis on compensation, experience, and job satisfaction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Visualization and reporting: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Charts built with Python (Pandas/Matplotlib) • Interactive dashboard built in IBM Cognos Analytics</a:t>
            </a:r>
            <a:endParaRPr b="0" i="0" sz="14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741" y="1373782"/>
            <a:ext cx="2395936" cy="2395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782335" y="1369219"/>
            <a:ext cx="5301544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Programming language trends — current vs. next year</a:t>
            </a:r>
            <a:endParaRPr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Database trends — current vs. next year</a:t>
            </a:r>
            <a:endParaRPr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Interactive dashboard — three tabs covering technology usage,</a:t>
            </a:r>
            <a:endParaRPr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future trends, and demographics</a:t>
            </a:r>
            <a:endParaRPr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PROGRAMMING LANGUAGE TRENDS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610362" y="1369219"/>
            <a:ext cx="1671481" cy="3764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Current Year</a:t>
            </a:r>
            <a:endParaRPr/>
          </a:p>
        </p:txBody>
      </p:sp>
      <p:sp>
        <p:nvSpPr>
          <p:cNvPr id="163" name="Google Shape;163;p27"/>
          <p:cNvSpPr txBox="1"/>
          <p:nvPr>
            <p:ph idx="2" type="body"/>
          </p:nvPr>
        </p:nvSpPr>
        <p:spPr>
          <a:xfrm>
            <a:off x="4629150" y="1369219"/>
            <a:ext cx="1318607" cy="3764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Next Year</a:t>
            </a:r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628649" y="1879996"/>
            <a:ext cx="3461212" cy="27527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629150" y="1879996"/>
            <a:ext cx="3461212" cy="27527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800000"/>
            <a:ext cx="3900000" cy="29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0000" y="1800000"/>
            <a:ext cx="3900000" cy="29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2100"/>
              <a:buFont typeface="IBM Plex Sans SemiBold"/>
              <a:buNone/>
            </a:pPr>
            <a:r>
              <a:rPr lang="en" sz="2100"/>
              <a:t>PROGRAMMING LANGUAGE TRENDS - FINDINGS &amp; IMPLICATIONS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526800" y="1369226"/>
            <a:ext cx="3886200" cy="3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b="1" lang="en" u="sng"/>
              <a:t>Findings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</a:pPr>
            <a:r>
              <a:rPr lang="en" sz="1500"/>
              <a:t>JavaScript is the most used language (~37,500), followed by HTML/CSS, Python, and SQL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Python has the highest "want to work with" count (~25,000), ahead of JavaScript (~24,000)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Rust (~17,000) and Go (~14,000) appear in the top 10 desired languages despite not being in the top 10 currently used</a:t>
            </a:r>
            <a:endParaRPr sz="1500"/>
          </a:p>
        </p:txBody>
      </p:sp>
      <p:sp>
        <p:nvSpPr>
          <p:cNvPr id="174" name="Google Shape;174;p2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b="1" lang="en" u="sng"/>
              <a:t>Implications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</a:pPr>
            <a:r>
              <a:rPr lang="en" sz="1500"/>
              <a:t>Web-stack skills (JavaScript, HTML/CSS, SQL) remain the baseline for employability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Python is the safest forward skill investment, spanning web, data, and AI roles 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Rust and Go signal where systems and backend development demand is heading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628638" y="32070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DATABASE TRENDS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610362" y="1369219"/>
            <a:ext cx="1671481" cy="3764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b="1" lang="en" u="sng"/>
              <a:t>Current Year</a:t>
            </a:r>
            <a:endParaRPr b="1" u="sng"/>
          </a:p>
        </p:txBody>
      </p:sp>
      <p:sp>
        <p:nvSpPr>
          <p:cNvPr id="181" name="Google Shape;181;p29"/>
          <p:cNvSpPr txBox="1"/>
          <p:nvPr>
            <p:ph idx="2" type="body"/>
          </p:nvPr>
        </p:nvSpPr>
        <p:spPr>
          <a:xfrm>
            <a:off x="4572000" y="1369650"/>
            <a:ext cx="13185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b="1" lang="en" u="sng"/>
              <a:t>Next Year</a:t>
            </a:r>
            <a:endParaRPr b="1" u="sng"/>
          </a:p>
        </p:txBody>
      </p:sp>
      <p:sp>
        <p:nvSpPr>
          <p:cNvPr id="182" name="Google Shape;182;p29"/>
          <p:cNvSpPr txBox="1"/>
          <p:nvPr/>
        </p:nvSpPr>
        <p:spPr>
          <a:xfrm>
            <a:off x="4629150" y="1879996"/>
            <a:ext cx="3461212" cy="27527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800000"/>
            <a:ext cx="3900000" cy="29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0000" y="1800000"/>
            <a:ext cx="3900000" cy="29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6739" y="273844"/>
            <a:ext cx="907052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DATABASE TRENDS - FINDINGS &amp; IMPLICATIONS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610362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Findings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</a:pPr>
            <a:r>
              <a:rPr lang="en" sz="1500"/>
              <a:t>PostgreSQL is the clear leader in future preference at 47.1%, nearly double the next database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entire top 5 desired set (PostgreSQL, SQLite, MySQL, MongoDB, Redis) is open source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SQLite (26.8%) outranks MySQL (24.6%) in future desirability</a:t>
            </a:r>
            <a:endParaRPr sz="1500"/>
          </a:p>
        </p:txBody>
      </p:sp>
      <p:sp>
        <p:nvSpPr>
          <p:cNvPr id="191" name="Google Shape;191;p3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Implications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</a:pPr>
            <a:r>
              <a:rPr lang="en" sz="1500"/>
              <a:t>PostgreSQL proficiency is becoming a baseline expectation for data-related roles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Proprietary database skills face declining relative demand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Lightweight and NoSQL databases (SQLite, MongoDB, Redis) retain strong specialized demand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197" name="Google Shape;197;p31"/>
          <p:cNvSpPr txBox="1"/>
          <p:nvPr/>
        </p:nvSpPr>
        <p:spPr>
          <a:xfrm>
            <a:off x="3213806" y="2356657"/>
            <a:ext cx="5301544" cy="1926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 built in IBM Cognos Analytics with three tabs: Current Technology Usage, Future Technology Trends, and Demographics</a:t>
            </a:r>
            <a:endParaRPr b="0" i="0" sz="17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106" y="1426364"/>
            <a:ext cx="2290771" cy="229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Current Technology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628650" y="1268016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Screenshot of dashboard tab 1 goes here</a:t>
            </a:r>
            <a:endParaRPr/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25" y="1096050"/>
            <a:ext cx="8236826" cy="332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Future Technology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628650" y="1268016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Screenshot of dashboard tab 2 goes here</a:t>
            </a:r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114100"/>
            <a:ext cx="7886700" cy="346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Demographics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628650" y="1268016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/>
              <a:t>Screenshot of dashboard tab 3 goes here</a:t>
            </a:r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952" y="1221725"/>
            <a:ext cx="7886700" cy="32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DISCUSSION</a:t>
            </a:r>
            <a:endParaRPr/>
          </a:p>
        </p:txBody>
      </p:sp>
      <p:pic>
        <p:nvPicPr>
          <p:cNvPr id="225" name="Google Shape;225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998" y="1369219"/>
            <a:ext cx="3263504" cy="326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20000"/>
          </a:bodyPr>
          <a:lstStyle/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Current vs. future technology intent shows a clear pivot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toward Python and Rust on the language side, and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PostgreSQL on the database side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Open-source tooling has won the data layer outright;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proprietary databases continue to lose relative share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Compensation and demographic data confirm that early-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career, full-stack skill investment yields the strongest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returns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Remote and hybrid work are now the norm across all major</a:t>
            </a:r>
            <a:endParaRPr/>
          </a:p>
          <a:p>
            <a:pPr indent="-3810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countries — a structural change, not a temporary shift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OVERALL FINDINGS &amp; IMPLICATIONS</a:t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610362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b="1" lang="en" u="sng"/>
              <a:t>Findings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</a:pPr>
            <a:r>
              <a:rPr lang="en" sz="1500"/>
              <a:t>The developer population is concentrated in the 25–34 age group, which leads usage of every major language and database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Median compensation grows most steeply before age 40 (~$25K at 21 to ~$85K at 39), peaking at ~$110K near age 60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46.7% of top developer types are full-stack, and ~77% of respondents are professional developers</a:t>
            </a:r>
            <a:endParaRPr sz="1500"/>
          </a:p>
        </p:txBody>
      </p:sp>
      <p:sp>
        <p:nvSpPr>
          <p:cNvPr id="233" name="Google Shape;233;p3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b="1" lang="en" u="sng"/>
              <a:t>Implications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</a:pPr>
            <a:r>
              <a:rPr lang="en" sz="1500"/>
              <a:t>Technology adoption is driven by early-career developers; tools popular with this group will dominate within five years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strongest compensation returns come from skill investment in the first 15 years of a career</a:t>
            </a:r>
            <a:endParaRPr sz="1500"/>
          </a:p>
          <a:p>
            <a:pPr indent="-1333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Organizations should prioritize full-stack capability and flexible (hybrid/remote) work arrangements to attract talent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39" name="Google Shape;239;p37"/>
          <p:cNvSpPr txBox="1"/>
          <p:nvPr/>
        </p:nvSpPr>
        <p:spPr>
          <a:xfrm>
            <a:off x="3408218" y="1369219"/>
            <a:ext cx="510713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</a:pP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- </a:t>
            </a: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 technologies (JavaScript, HTML/CSS, SQL) dominate current professional practice</a:t>
            </a:r>
            <a:endParaRPr b="0" i="0" sz="15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33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BM Plex Sans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 and PostgreSQL lead future developer intent and represent the highest-value skill investments</a:t>
            </a:r>
            <a:endParaRPr b="0" i="0" sz="15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33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BM Plex Sans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Open-source tooling has decisively won the database layer</a:t>
            </a:r>
            <a:endParaRPr b="0" i="0" sz="15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33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BM Plex Sans"/>
              <a:buChar char="•"/>
            </a:pPr>
            <a:r>
              <a:rPr b="0" i="0" lang="en" sz="15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Compensation and demographic patterns favor early-career, full-stack skill development supported by remote-friendly policies</a:t>
            </a:r>
            <a:endParaRPr b="0" i="0" sz="15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40" name="Google Shape;24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475" y="1585422"/>
            <a:ext cx="2290771" cy="229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246" name="Google Shape;246;p38"/>
          <p:cNvSpPr txBox="1"/>
          <p:nvPr/>
        </p:nvSpPr>
        <p:spPr>
          <a:xfrm>
            <a:off x="3742443" y="1387369"/>
            <a:ext cx="5107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IBM Plex Sans"/>
              <a:buChar char="●"/>
            </a:pP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Operating Systems (Professional Use).</a:t>
            </a:r>
            <a:endParaRPr b="0" i="0" sz="21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IBM Plex Sans"/>
              <a:buChar char="●"/>
            </a:pP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5 Developer Types</a:t>
            </a:r>
            <a:endParaRPr b="0" i="0" sz="21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IBM Plex Sans"/>
              <a:buChar char="●"/>
            </a:pP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Remote Work Distribution by Country</a:t>
            </a:r>
            <a:endParaRPr b="0" i="0" sz="21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IBM Plex Sans"/>
              <a:buChar char="●"/>
            </a:pP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Median Compensation by Age</a:t>
            </a:r>
            <a:endParaRPr b="0" i="0" sz="21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IBM Plex Sans"/>
              <a:buChar char="●"/>
            </a:pP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Distribution of Respondent Types (</a:t>
            </a:r>
            <a:r>
              <a:rPr lang="en" sz="21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 Branch</a:t>
            </a:r>
            <a:r>
              <a:rPr b="0" i="0" lang="en" sz="21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)</a:t>
            </a:r>
            <a:endParaRPr b="0" i="0" sz="21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47" name="Google Shape;247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893" y="1387367"/>
            <a:ext cx="2395936" cy="239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1321038"/>
            <a:ext cx="2985925" cy="252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403686" y="287288"/>
            <a:ext cx="44467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 JOB POSTINGS</a:t>
            </a:r>
            <a:endParaRPr/>
          </a:p>
        </p:txBody>
      </p:sp>
      <p:sp>
        <p:nvSpPr>
          <p:cNvPr id="254" name="Google Shape;254;p39"/>
          <p:cNvSpPr txBox="1"/>
          <p:nvPr/>
        </p:nvSpPr>
        <p:spPr>
          <a:xfrm>
            <a:off x="685800" y="1643539"/>
            <a:ext cx="7866957" cy="21470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5" name="Google Shape;2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87375"/>
            <a:ext cx="7866949" cy="32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403686" y="287288"/>
            <a:ext cx="44467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000"/>
              <a:buFont typeface="IBM Plex Sans SemiBold"/>
              <a:buNone/>
            </a:pPr>
            <a:r>
              <a:rPr lang="en"/>
              <a:t>POPULAR LANGUAGES</a:t>
            </a:r>
            <a:endParaRPr/>
          </a:p>
        </p:txBody>
      </p:sp>
      <p:sp>
        <p:nvSpPr>
          <p:cNvPr id="261" name="Google Shape;261;p40"/>
          <p:cNvSpPr txBox="1"/>
          <p:nvPr/>
        </p:nvSpPr>
        <p:spPr>
          <a:xfrm>
            <a:off x="658729" y="1643539"/>
            <a:ext cx="7894028" cy="21470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62" name="Google Shape;2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75" y="1217650"/>
            <a:ext cx="7939976" cy="35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